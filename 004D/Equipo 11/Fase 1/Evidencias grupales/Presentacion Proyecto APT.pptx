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904848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84417" y="1404408"/>
            <a:ext cx="8319166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2708935" y="0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5579065" y="6382152"/>
                </a:moveTo>
                <a:lnTo>
                  <a:pt x="0" y="6382152"/>
                </a:lnTo>
                <a:lnTo>
                  <a:pt x="0" y="0"/>
                </a:lnTo>
                <a:lnTo>
                  <a:pt x="5579065" y="0"/>
                </a:lnTo>
                <a:lnTo>
                  <a:pt x="5579065" y="638215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301030" y="301030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0820522" y="2819522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2718" y="2522206"/>
            <a:ext cx="14482564" cy="232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3"/>
              </a:lnSpc>
            </a:pPr>
            <a:r>
              <a:rPr lang="en-US" b="true" sz="171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FIREMAPS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04240" y="5706383"/>
            <a:ext cx="9479521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APT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5437" y="6934794"/>
            <a:ext cx="7997126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Alexander Lucero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Pedro Salazar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729414" y="2390211"/>
            <a:ext cx="13516228" cy="3969675"/>
          </a:xfrm>
          <a:custGeom>
            <a:avLst/>
            <a:gdLst/>
            <a:ahLst/>
            <a:cxnLst/>
            <a:rect r="r" b="b" t="t" l="l"/>
            <a:pathLst>
              <a:path h="3969675" w="13516228">
                <a:moveTo>
                  <a:pt x="0" y="0"/>
                </a:moveTo>
                <a:lnTo>
                  <a:pt x="13516228" y="0"/>
                </a:lnTo>
                <a:lnTo>
                  <a:pt x="13516228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0214229" y="2390211"/>
            <a:ext cx="13516228" cy="3969675"/>
          </a:xfrm>
          <a:custGeom>
            <a:avLst/>
            <a:gdLst/>
            <a:ahLst/>
            <a:cxnLst/>
            <a:rect r="r" b="b" t="t" l="l"/>
            <a:pathLst>
              <a:path h="3969675" w="13516228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07421" y="2099075"/>
            <a:ext cx="4473158" cy="97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03460" y="3520437"/>
            <a:ext cx="6684461" cy="612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Conceptualización</a:t>
            </a:r>
          </a:p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</a:p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etodología</a:t>
            </a:r>
          </a:p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Evi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dencias</a:t>
            </a:r>
          </a:p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Relación del Proyec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con los intereses profesionales</a:t>
            </a:r>
          </a:p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ompetencias del perfil de egreso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520437"/>
            <a:ext cx="6684461" cy="304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de trabajo</a:t>
            </a:r>
          </a:p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Cronograma</a:t>
            </a:r>
          </a:p>
          <a:p>
            <a:pPr algn="l" marL="690876" indent="-345438" lvl="1">
              <a:lnSpc>
                <a:spcPts val="60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</a:p>
          <a:p>
            <a:pPr algn="l">
              <a:lnSpc>
                <a:spcPts val="60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0832" y="-781343"/>
            <a:ext cx="5941360" cy="11839950"/>
            <a:chOff x="0" y="0"/>
            <a:chExt cx="1564803" cy="31183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4803" cy="3118341"/>
            </a:xfrm>
            <a:custGeom>
              <a:avLst/>
              <a:gdLst/>
              <a:ahLst/>
              <a:cxnLst/>
              <a:rect r="r" b="b" t="t" l="l"/>
              <a:pathLst>
                <a:path h="3118341" w="1564803">
                  <a:moveTo>
                    <a:pt x="66456" y="0"/>
                  </a:moveTo>
                  <a:lnTo>
                    <a:pt x="1498347" y="0"/>
                  </a:lnTo>
                  <a:cubicBezTo>
                    <a:pt x="1535049" y="0"/>
                    <a:pt x="1564803" y="29753"/>
                    <a:pt x="1564803" y="66456"/>
                  </a:cubicBezTo>
                  <a:lnTo>
                    <a:pt x="1564803" y="3051885"/>
                  </a:lnTo>
                  <a:cubicBezTo>
                    <a:pt x="1564803" y="3088587"/>
                    <a:pt x="1535049" y="3118341"/>
                    <a:pt x="1498347" y="3118341"/>
                  </a:cubicBezTo>
                  <a:lnTo>
                    <a:pt x="66456" y="3118341"/>
                  </a:lnTo>
                  <a:cubicBezTo>
                    <a:pt x="29753" y="3118341"/>
                    <a:pt x="0" y="3088587"/>
                    <a:pt x="0" y="3051885"/>
                  </a:cubicBezTo>
                  <a:lnTo>
                    <a:pt x="0" y="66456"/>
                  </a:lnTo>
                  <a:cubicBezTo>
                    <a:pt x="0" y="29753"/>
                    <a:pt x="29753" y="0"/>
                    <a:pt x="66456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64803" cy="3185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13383" y="1171863"/>
            <a:ext cx="5921264" cy="7933538"/>
            <a:chOff x="0" y="0"/>
            <a:chExt cx="722119" cy="9675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2119" cy="967522"/>
            </a:xfrm>
            <a:custGeom>
              <a:avLst/>
              <a:gdLst/>
              <a:ahLst/>
              <a:cxnLst/>
              <a:rect r="r" b="b" t="t" l="l"/>
              <a:pathLst>
                <a:path h="967522" w="722119">
                  <a:moveTo>
                    <a:pt x="83679" y="0"/>
                  </a:moveTo>
                  <a:lnTo>
                    <a:pt x="638440" y="0"/>
                  </a:lnTo>
                  <a:cubicBezTo>
                    <a:pt x="684654" y="0"/>
                    <a:pt x="722119" y="37464"/>
                    <a:pt x="722119" y="83679"/>
                  </a:cubicBezTo>
                  <a:lnTo>
                    <a:pt x="722119" y="883844"/>
                  </a:lnTo>
                  <a:cubicBezTo>
                    <a:pt x="722119" y="930058"/>
                    <a:pt x="684654" y="967522"/>
                    <a:pt x="638440" y="967522"/>
                  </a:cubicBezTo>
                  <a:lnTo>
                    <a:pt x="83679" y="967522"/>
                  </a:lnTo>
                  <a:cubicBezTo>
                    <a:pt x="37464" y="967522"/>
                    <a:pt x="0" y="930058"/>
                    <a:pt x="0" y="883844"/>
                  </a:cubicBezTo>
                  <a:lnTo>
                    <a:pt x="0" y="83679"/>
                  </a:lnTo>
                  <a:cubicBezTo>
                    <a:pt x="0" y="37464"/>
                    <a:pt x="37464" y="0"/>
                    <a:pt x="83679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46824" y="1850666"/>
            <a:ext cx="7912766" cy="9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11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Contextualización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6824" y="3459018"/>
            <a:ext cx="7697176" cy="314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FireMaps es una aplicación móvil que mejora la eficiencia de las compañías de bomberos en Chiloé, utilizando geolocalización y cálculo de rutas para identificar la unidad más cercana ante una emergencia.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7510" y="2489121"/>
            <a:ext cx="15532980" cy="2026869"/>
            <a:chOff x="0" y="0"/>
            <a:chExt cx="4090991" cy="533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0991" cy="533826"/>
            </a:xfrm>
            <a:custGeom>
              <a:avLst/>
              <a:gdLst/>
              <a:ahLst/>
              <a:cxnLst/>
              <a:rect r="r" b="b" t="t" l="l"/>
              <a:pathLst>
                <a:path h="533826" w="4090991">
                  <a:moveTo>
                    <a:pt x="19438" y="0"/>
                  </a:moveTo>
                  <a:lnTo>
                    <a:pt x="4071552" y="0"/>
                  </a:lnTo>
                  <a:cubicBezTo>
                    <a:pt x="4082288" y="0"/>
                    <a:pt x="4090991" y="8703"/>
                    <a:pt x="4090991" y="19438"/>
                  </a:cubicBezTo>
                  <a:lnTo>
                    <a:pt x="4090991" y="514387"/>
                  </a:lnTo>
                  <a:cubicBezTo>
                    <a:pt x="4090991" y="525123"/>
                    <a:pt x="4082288" y="533826"/>
                    <a:pt x="4071552" y="533826"/>
                  </a:cubicBezTo>
                  <a:lnTo>
                    <a:pt x="19438" y="533826"/>
                  </a:lnTo>
                  <a:cubicBezTo>
                    <a:pt x="8703" y="533826"/>
                    <a:pt x="0" y="525123"/>
                    <a:pt x="0" y="514387"/>
                  </a:cubicBezTo>
                  <a:lnTo>
                    <a:pt x="0" y="19438"/>
                  </a:lnTo>
                  <a:cubicBezTo>
                    <a:pt x="0" y="8703"/>
                    <a:pt x="8703" y="0"/>
                    <a:pt x="19438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090991" cy="600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510" y="4754283"/>
            <a:ext cx="15532980" cy="4677819"/>
            <a:chOff x="0" y="0"/>
            <a:chExt cx="4090991" cy="12320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0991" cy="1232018"/>
            </a:xfrm>
            <a:custGeom>
              <a:avLst/>
              <a:gdLst/>
              <a:ahLst/>
              <a:cxnLst/>
              <a:rect r="r" b="b" t="t" l="l"/>
              <a:pathLst>
                <a:path h="1232018" w="4090991">
                  <a:moveTo>
                    <a:pt x="19438" y="0"/>
                  </a:moveTo>
                  <a:lnTo>
                    <a:pt x="4071552" y="0"/>
                  </a:lnTo>
                  <a:cubicBezTo>
                    <a:pt x="4082288" y="0"/>
                    <a:pt x="4090991" y="8703"/>
                    <a:pt x="4090991" y="19438"/>
                  </a:cubicBezTo>
                  <a:lnTo>
                    <a:pt x="4090991" y="1212580"/>
                  </a:lnTo>
                  <a:cubicBezTo>
                    <a:pt x="4090991" y="1223315"/>
                    <a:pt x="4082288" y="1232018"/>
                    <a:pt x="4071552" y="1232018"/>
                  </a:cubicBezTo>
                  <a:lnTo>
                    <a:pt x="19438" y="1232018"/>
                  </a:lnTo>
                  <a:cubicBezTo>
                    <a:pt x="8703" y="1232018"/>
                    <a:pt x="0" y="1223315"/>
                    <a:pt x="0" y="1212580"/>
                  </a:cubicBezTo>
                  <a:lnTo>
                    <a:pt x="0" y="19438"/>
                  </a:lnTo>
                  <a:cubicBezTo>
                    <a:pt x="0" y="8703"/>
                    <a:pt x="8703" y="0"/>
                    <a:pt x="19438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090991" cy="1298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1456" y="1038225"/>
            <a:ext cx="15225088" cy="96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1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08683" y="2744986"/>
            <a:ext cx="10647860" cy="13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objetivo del proyecto es desarrollar una aplicación móvil funcional para Chiloé que, mediante geolocalización, identifique la compañía de bomberos más cercana a un incidente.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18878" y="4773537"/>
            <a:ext cx="10718707" cy="45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Mostrar en un mapa las compañías de bomberos disponibles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Permitir registrar y consultar incidentes con ubicación específica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Usar geolocalización para calcular la estación más cercana según tiempo de llegada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Crear una base de datos escalable para compañías, incidentes y rutas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Presentar resultados claros al usuario con opciones recomendadas y alternativas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8130" y="2977888"/>
            <a:ext cx="3790749" cy="75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8130" y="5013687"/>
            <a:ext cx="3790749" cy="75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Específicos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60382" y="-781343"/>
            <a:ext cx="5941360" cy="11839950"/>
            <a:chOff x="0" y="0"/>
            <a:chExt cx="1564803" cy="31183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4803" cy="3118341"/>
            </a:xfrm>
            <a:custGeom>
              <a:avLst/>
              <a:gdLst/>
              <a:ahLst/>
              <a:cxnLst/>
              <a:rect r="r" b="b" t="t" l="l"/>
              <a:pathLst>
                <a:path h="3118341" w="1564803">
                  <a:moveTo>
                    <a:pt x="66456" y="0"/>
                  </a:moveTo>
                  <a:lnTo>
                    <a:pt x="1498347" y="0"/>
                  </a:lnTo>
                  <a:cubicBezTo>
                    <a:pt x="1535049" y="0"/>
                    <a:pt x="1564803" y="29753"/>
                    <a:pt x="1564803" y="66456"/>
                  </a:cubicBezTo>
                  <a:lnTo>
                    <a:pt x="1564803" y="3051885"/>
                  </a:lnTo>
                  <a:cubicBezTo>
                    <a:pt x="1564803" y="3088587"/>
                    <a:pt x="1535049" y="3118341"/>
                    <a:pt x="1498347" y="3118341"/>
                  </a:cubicBezTo>
                  <a:lnTo>
                    <a:pt x="66456" y="3118341"/>
                  </a:lnTo>
                  <a:cubicBezTo>
                    <a:pt x="29753" y="3118341"/>
                    <a:pt x="0" y="3088587"/>
                    <a:pt x="0" y="3051885"/>
                  </a:cubicBezTo>
                  <a:lnTo>
                    <a:pt x="0" y="66456"/>
                  </a:lnTo>
                  <a:cubicBezTo>
                    <a:pt x="0" y="29753"/>
                    <a:pt x="29753" y="0"/>
                    <a:pt x="66456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64803" cy="3185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6677" y="2197669"/>
            <a:ext cx="6188602" cy="6733230"/>
            <a:chOff x="0" y="0"/>
            <a:chExt cx="889263" cy="9675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263" cy="967522"/>
            </a:xfrm>
            <a:custGeom>
              <a:avLst/>
              <a:gdLst/>
              <a:ahLst/>
              <a:cxnLst/>
              <a:rect r="r" b="b" t="t" l="l"/>
              <a:pathLst>
                <a:path h="967522" w="889263">
                  <a:moveTo>
                    <a:pt x="80064" y="0"/>
                  </a:moveTo>
                  <a:lnTo>
                    <a:pt x="809199" y="0"/>
                  </a:lnTo>
                  <a:cubicBezTo>
                    <a:pt x="853417" y="0"/>
                    <a:pt x="889263" y="35846"/>
                    <a:pt x="889263" y="80064"/>
                  </a:cubicBezTo>
                  <a:lnTo>
                    <a:pt x="889263" y="887459"/>
                  </a:lnTo>
                  <a:cubicBezTo>
                    <a:pt x="889263" y="931677"/>
                    <a:pt x="853417" y="967522"/>
                    <a:pt x="809199" y="967522"/>
                  </a:cubicBezTo>
                  <a:lnTo>
                    <a:pt x="80064" y="967522"/>
                  </a:lnTo>
                  <a:cubicBezTo>
                    <a:pt x="35846" y="967522"/>
                    <a:pt x="0" y="931677"/>
                    <a:pt x="0" y="887459"/>
                  </a:cubicBezTo>
                  <a:lnTo>
                    <a:pt x="0" y="80064"/>
                  </a:lnTo>
                  <a:cubicBezTo>
                    <a:pt x="0" y="35846"/>
                    <a:pt x="35846" y="0"/>
                    <a:pt x="80064" y="0"/>
                  </a:cubicBezTo>
                  <a:close/>
                </a:path>
              </a:pathLst>
            </a:custGeom>
            <a:blipFill>
              <a:blip r:embed="rId2"/>
              <a:stretch>
                <a:fillRect l="-4170" t="0" r="-417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02674" y="1860462"/>
            <a:ext cx="7802425" cy="9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11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2674" y="3443864"/>
            <a:ext cx="7802425" cy="548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royecto se organizará con la metodología ágil Scrum, dividiendo el trabajo en etapas y sprints semanales. </a:t>
            </a:r>
          </a:p>
          <a:p>
            <a:pPr algn="l">
              <a:lnSpc>
                <a:spcPts val="3639"/>
              </a:lnSpc>
            </a:pP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de 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base de datos.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unciones principales de la app. 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ruebas y ajustes.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ntregará el prototipo con documentación.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 roles del equipo están definidos para asegurar una aplicación funcional dentro del tiempo y recursos disponibles.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6824" y="1144597"/>
            <a:ext cx="15445452" cy="9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1"/>
              </a:lnSpc>
            </a:pP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Evidencias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77510" y="2514932"/>
            <a:ext cx="7766490" cy="3296784"/>
            <a:chOff x="0" y="0"/>
            <a:chExt cx="2045495" cy="868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5495" cy="868289"/>
            </a:xfrm>
            <a:custGeom>
              <a:avLst/>
              <a:gdLst/>
              <a:ahLst/>
              <a:cxnLst/>
              <a:rect r="r" b="b" t="t" l="l"/>
              <a:pathLst>
                <a:path h="868289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045495" cy="93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03061" y="6221291"/>
            <a:ext cx="7766490" cy="3296784"/>
            <a:chOff x="0" y="0"/>
            <a:chExt cx="2045495" cy="868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5495" cy="868289"/>
            </a:xfrm>
            <a:custGeom>
              <a:avLst/>
              <a:gdLst/>
              <a:ahLst/>
              <a:cxnLst/>
              <a:rect r="r" b="b" t="t" l="l"/>
              <a:pathLst>
                <a:path h="868289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045495" cy="93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7784" y="2514932"/>
            <a:ext cx="7766490" cy="3296784"/>
            <a:chOff x="0" y="0"/>
            <a:chExt cx="2045495" cy="8682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5495" cy="868289"/>
            </a:xfrm>
            <a:custGeom>
              <a:avLst/>
              <a:gdLst/>
              <a:ahLst/>
              <a:cxnLst/>
              <a:rect r="r" b="b" t="t" l="l"/>
              <a:pathLst>
                <a:path h="868289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45495" cy="93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40439" y="3623654"/>
            <a:ext cx="674717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Versión preliminar de la app que muestra compañías de bomberos en un mapa y permite registrar incidentes manualmente.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1491" y="3623654"/>
            <a:ext cx="674717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Imágenes de la interfaz móvil y documento breve explicando las funcionalidades implementadas en la primera etapa.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65990" y="7367467"/>
            <a:ext cx="674717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Repositorio con el código de la app móvil, el backend y la base de datos, incluyendo la integración con la API de mapas.     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0439" y="2740337"/>
            <a:ext cx="6606572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Prototipo de la APP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1491" y="2740337"/>
            <a:ext cx="6606572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Captura de  pantalla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65990" y="6470561"/>
            <a:ext cx="6606572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Código fuente del proyecto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7784" y="6221291"/>
            <a:ext cx="7766490" cy="3296784"/>
            <a:chOff x="0" y="0"/>
            <a:chExt cx="2045495" cy="8682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5495" cy="868289"/>
            </a:xfrm>
            <a:custGeom>
              <a:avLst/>
              <a:gdLst/>
              <a:ahLst/>
              <a:cxnLst/>
              <a:rect r="r" b="b" t="t" l="l"/>
              <a:pathLst>
                <a:path h="868289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045495" cy="93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90713" y="7367467"/>
            <a:ext cx="674717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Documento con una explicación del funcionamiento de la aplicación, instrucciones de uso y ejemplos de cálculo de rutas.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90713" y="6470561"/>
            <a:ext cx="6606572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datos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343195" y="4073949"/>
            <a:ext cx="18647289" cy="5011459"/>
          </a:xfrm>
          <a:custGeom>
            <a:avLst/>
            <a:gdLst/>
            <a:ahLst/>
            <a:cxnLst/>
            <a:rect r="r" b="b" t="t" l="l"/>
            <a:pathLst>
              <a:path h="5011459" w="18647289">
                <a:moveTo>
                  <a:pt x="0" y="0"/>
                </a:moveTo>
                <a:lnTo>
                  <a:pt x="18647289" y="0"/>
                </a:lnTo>
                <a:lnTo>
                  <a:pt x="18647289" y="5011459"/>
                </a:lnTo>
                <a:lnTo>
                  <a:pt x="0" y="5011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7962512" y="4073949"/>
            <a:ext cx="18647289" cy="5011459"/>
          </a:xfrm>
          <a:custGeom>
            <a:avLst/>
            <a:gdLst/>
            <a:ahLst/>
            <a:cxnLst/>
            <a:rect r="r" b="b" t="t" l="l"/>
            <a:pathLst>
              <a:path h="5011459" w="18647289">
                <a:moveTo>
                  <a:pt x="0" y="5011459"/>
                </a:moveTo>
                <a:lnTo>
                  <a:pt x="18647289" y="5011459"/>
                </a:lnTo>
                <a:lnTo>
                  <a:pt x="18647289" y="0"/>
                </a:lnTo>
                <a:lnTo>
                  <a:pt x="0" y="0"/>
                </a:lnTo>
                <a:lnTo>
                  <a:pt x="0" y="5011459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74484" y="3086100"/>
            <a:ext cx="4092356" cy="4114800"/>
          </a:xfrm>
          <a:custGeom>
            <a:avLst/>
            <a:gdLst/>
            <a:ahLst/>
            <a:cxnLst/>
            <a:rect r="r" b="b" t="t" l="l"/>
            <a:pathLst>
              <a:path h="4114800" w="4092356">
                <a:moveTo>
                  <a:pt x="0" y="0"/>
                </a:moveTo>
                <a:lnTo>
                  <a:pt x="4092355" y="0"/>
                </a:lnTo>
                <a:lnTo>
                  <a:pt x="40923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38555" y="2359497"/>
            <a:ext cx="8557371" cy="694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Proyecto es viable dentro del plazo de la asignatura, a que se ha definido como un prototipo mínimo viable (MVP) centrado en la aplicación móvil.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planificación por fases y el uso de  sprints semanales aseguran entregables progresivos y ajustables.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Utilizamos herramientas gratuitas o alternativas abiertas, lo que garantiza accesibilidad sin costos elevados.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38555" y="1133475"/>
            <a:ext cx="8557371" cy="86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1"/>
              </a:lnSpc>
            </a:pP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Factibilidad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472171" y="-475029"/>
            <a:ext cx="11152862" cy="3275562"/>
          </a:xfrm>
          <a:custGeom>
            <a:avLst/>
            <a:gdLst/>
            <a:ahLst/>
            <a:cxnLst/>
            <a:rect r="r" b="b" t="t" l="l"/>
            <a:pathLst>
              <a:path h="3275562" w="11152862">
                <a:moveTo>
                  <a:pt x="0" y="3275562"/>
                </a:moveTo>
                <a:lnTo>
                  <a:pt x="11152862" y="3275562"/>
                </a:lnTo>
                <a:lnTo>
                  <a:pt x="11152862" y="0"/>
                </a:lnTo>
                <a:lnTo>
                  <a:pt x="0" y="0"/>
                </a:lnTo>
                <a:lnTo>
                  <a:pt x="0" y="3275562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820441" y="-475029"/>
            <a:ext cx="11152862" cy="3275562"/>
          </a:xfrm>
          <a:custGeom>
            <a:avLst/>
            <a:gdLst/>
            <a:ahLst/>
            <a:cxnLst/>
            <a:rect r="r" b="b" t="t" l="l"/>
            <a:pathLst>
              <a:path h="3275562" w="11152862">
                <a:moveTo>
                  <a:pt x="11152862" y="3275562"/>
                </a:moveTo>
                <a:lnTo>
                  <a:pt x="0" y="3275562"/>
                </a:lnTo>
                <a:lnTo>
                  <a:pt x="0" y="0"/>
                </a:lnTo>
                <a:lnTo>
                  <a:pt x="11152862" y="0"/>
                </a:lnTo>
                <a:lnTo>
                  <a:pt x="11152862" y="3275562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96054" y="2043105"/>
            <a:ext cx="12864903" cy="161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Relación del Proyecto con los intereses profesionales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64834" y="3882888"/>
            <a:ext cx="8727341" cy="496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royecto APT se vincula directamente con nuestros intereses en el desarrollo de software, la gestión de proyectos y la aplicación de tecnologías con impacto social. Nos permite aplicar herramientas como bases de datos geoespaciales, servicios de geolocalización y metodologías ágiles, fortaleciendo nuestras competencias técnicas y nuestro compromiso por crear soluciones digitales que respondan a necesidades reales de la comunidad.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472171" y="7375762"/>
            <a:ext cx="11152862" cy="3275562"/>
          </a:xfrm>
          <a:custGeom>
            <a:avLst/>
            <a:gdLst/>
            <a:ahLst/>
            <a:cxnLst/>
            <a:rect r="r" b="b" t="t" l="l"/>
            <a:pathLst>
              <a:path h="3275562" w="11152862">
                <a:moveTo>
                  <a:pt x="0" y="0"/>
                </a:moveTo>
                <a:lnTo>
                  <a:pt x="11152862" y="0"/>
                </a:lnTo>
                <a:lnTo>
                  <a:pt x="11152862" y="3275562"/>
                </a:lnTo>
                <a:lnTo>
                  <a:pt x="0" y="327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820441" y="7375762"/>
            <a:ext cx="11152862" cy="3275562"/>
          </a:xfrm>
          <a:custGeom>
            <a:avLst/>
            <a:gdLst/>
            <a:ahLst/>
            <a:cxnLst/>
            <a:rect r="r" b="b" t="t" l="l"/>
            <a:pathLst>
              <a:path h="3275562" w="11152862">
                <a:moveTo>
                  <a:pt x="11152862" y="0"/>
                </a:moveTo>
                <a:lnTo>
                  <a:pt x="0" y="0"/>
                </a:lnTo>
                <a:lnTo>
                  <a:pt x="0" y="3275562"/>
                </a:lnTo>
                <a:lnTo>
                  <a:pt x="11152862" y="3275562"/>
                </a:lnTo>
                <a:lnTo>
                  <a:pt x="11152862" y="0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6824" y="1144597"/>
            <a:ext cx="15445452" cy="9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1"/>
              </a:lnSpc>
            </a:pP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ompetencias del perfil de egreso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77510" y="2514932"/>
            <a:ext cx="7766490" cy="3296784"/>
            <a:chOff x="0" y="0"/>
            <a:chExt cx="2045495" cy="868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5495" cy="868289"/>
            </a:xfrm>
            <a:custGeom>
              <a:avLst/>
              <a:gdLst/>
              <a:ahLst/>
              <a:cxnLst/>
              <a:rect r="r" b="b" t="t" l="l"/>
              <a:pathLst>
                <a:path h="868289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045495" cy="93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4539" y="6221291"/>
            <a:ext cx="7766490" cy="3296784"/>
            <a:chOff x="0" y="0"/>
            <a:chExt cx="2045495" cy="868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5495" cy="868289"/>
            </a:xfrm>
            <a:custGeom>
              <a:avLst/>
              <a:gdLst/>
              <a:ahLst/>
              <a:cxnLst/>
              <a:rect r="r" b="b" t="t" l="l"/>
              <a:pathLst>
                <a:path h="868289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045495" cy="93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7784" y="2514932"/>
            <a:ext cx="7766490" cy="3296784"/>
            <a:chOff x="0" y="0"/>
            <a:chExt cx="2045495" cy="8682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5495" cy="868289"/>
            </a:xfrm>
            <a:custGeom>
              <a:avLst/>
              <a:gdLst/>
              <a:ahLst/>
              <a:cxnLst/>
              <a:rect r="r" b="b" t="t" l="l"/>
              <a:pathLst>
                <a:path h="868289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45495" cy="93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40439" y="3623654"/>
            <a:ext cx="674717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proyecto se organiza en fases y tareas, aplicando metodologías que priorizan actividades, respetan plazos y garantizan el avance hacia un prototipo funcional.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1491" y="3623654"/>
            <a:ext cx="674717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de una app móvil con interfaz intuitiva, backend para cálculo de rutas y conexión a base de datos, además de pruebas para asegurar calidad.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7468" y="7367467"/>
            <a:ext cx="674717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diseñará un modelo de datos para registrar compañías de bomberos e incidentes, usando una base geoespacial que permita calcular distancias y ubicar la estación más cercana.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0439" y="2740337"/>
            <a:ext cx="6606572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 de proyectos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1491" y="2740337"/>
            <a:ext cx="6606572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Desarrollo de software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7468" y="6470561"/>
            <a:ext cx="6606572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datos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8811" y="942157"/>
            <a:ext cx="14870377" cy="86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 de trabajo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94169" y="2524789"/>
            <a:ext cx="5614733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esarrollo e Integración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55170" y="2524789"/>
            <a:ext cx="4044217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Ci</a:t>
            </a: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erre y Entrega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24789"/>
            <a:ext cx="5079113" cy="7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9"/>
              </a:lnSpc>
              <a:spcBef>
                <a:spcPct val="0"/>
              </a:spcBef>
            </a:pP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Pla</a:t>
            </a:r>
            <a:r>
              <a:rPr lang="en-US" b="true" sz="3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nificación y Diseño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13" y="3612213"/>
            <a:ext cx="4759087" cy="49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Reunión inicial y definición de roles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Levantamiento y documentación de requerimientos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Recolección de datos de compañías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Selección de herramientas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preliminar del modelo de datos y arquitectura de la app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Creación de wireframes y prototipo inicial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Redacción del informe de fase 1 y revisión docente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21702" y="3612213"/>
            <a:ext cx="4759667" cy="459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onfiguración del entorno de desarrollo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Implementación de base de datos y APIs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de módulos: registro de compañías, incidentes, mapa y cálculo de rutas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Integración de APIs externas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unitarias, funcionales y en emuladores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Optimización y corrección de errores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495257" y="3864512"/>
            <a:ext cx="4764043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edacción de documentación técnica y manual de usuario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Preparación de anexos e informe final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Presentación de defensa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Entrega del prototipo funcional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9144000" y="-738145"/>
            <a:ext cx="9676532" cy="2841968"/>
          </a:xfrm>
          <a:custGeom>
            <a:avLst/>
            <a:gdLst/>
            <a:ahLst/>
            <a:cxnLst/>
            <a:rect r="r" b="b" t="t" l="l"/>
            <a:pathLst>
              <a:path h="2841968" w="9676532">
                <a:moveTo>
                  <a:pt x="9676532" y="2841968"/>
                </a:moveTo>
                <a:lnTo>
                  <a:pt x="0" y="2841968"/>
                </a:lnTo>
                <a:lnTo>
                  <a:pt x="0" y="0"/>
                </a:lnTo>
                <a:lnTo>
                  <a:pt x="9676532" y="0"/>
                </a:lnTo>
                <a:lnTo>
                  <a:pt x="9676532" y="2841968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281" y="1038225"/>
            <a:ext cx="12121437" cy="9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1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Cronograma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64213" y="2480913"/>
            <a:ext cx="6823821" cy="7806087"/>
          </a:xfrm>
          <a:custGeom>
            <a:avLst/>
            <a:gdLst/>
            <a:ahLst/>
            <a:cxnLst/>
            <a:rect r="r" b="b" t="t" l="l"/>
            <a:pathLst>
              <a:path h="7806087" w="6823821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74823" y="0"/>
            <a:ext cx="6754697" cy="7727013"/>
          </a:xfrm>
          <a:custGeom>
            <a:avLst/>
            <a:gdLst/>
            <a:ahLst/>
            <a:cxnLst/>
            <a:rect r="r" b="b" t="t" l="l"/>
            <a:pathLst>
              <a:path h="7727013" w="6754697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216617"/>
            <a:ext cx="16230600" cy="5985034"/>
          </a:xfrm>
          <a:custGeom>
            <a:avLst/>
            <a:gdLst/>
            <a:ahLst/>
            <a:cxnLst/>
            <a:rect r="r" b="b" t="t" l="l"/>
            <a:pathLst>
              <a:path h="5985034" w="16230600">
                <a:moveTo>
                  <a:pt x="0" y="0"/>
                </a:moveTo>
                <a:lnTo>
                  <a:pt x="16230600" y="0"/>
                </a:lnTo>
                <a:lnTo>
                  <a:pt x="16230600" y="5985034"/>
                </a:lnTo>
                <a:lnTo>
                  <a:pt x="0" y="5985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5302" y="2393034"/>
            <a:ext cx="10137397" cy="9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1"/>
              </a:lnSpc>
            </a:pPr>
            <a:r>
              <a:rPr lang="en-US" sz="6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75302" y="3966845"/>
            <a:ext cx="10137397" cy="228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Proyecto APT es factible y funcional dentro del marco de la asignatura. Su enfoque en un MVP, el uso de herramientas accesibles y la planificación ágil permiten cumplir los objetivos propuestos y aplicar de forma práctica las competencias del perfil de egreso.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1837296" y="3720101"/>
            <a:ext cx="10592737" cy="2846798"/>
          </a:xfrm>
          <a:custGeom>
            <a:avLst/>
            <a:gdLst/>
            <a:ahLst/>
            <a:cxnLst/>
            <a:rect r="r" b="b" t="t" l="l"/>
            <a:pathLst>
              <a:path h="2846798" w="10592737">
                <a:moveTo>
                  <a:pt x="0" y="0"/>
                </a:moveTo>
                <a:lnTo>
                  <a:pt x="10592737" y="0"/>
                </a:lnTo>
                <a:lnTo>
                  <a:pt x="10592737" y="2846798"/>
                </a:lnTo>
                <a:lnTo>
                  <a:pt x="0" y="2846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-3975554" y="3720101"/>
            <a:ext cx="10592737" cy="2846798"/>
          </a:xfrm>
          <a:custGeom>
            <a:avLst/>
            <a:gdLst/>
            <a:ahLst/>
            <a:cxnLst/>
            <a:rect r="r" b="b" t="t" l="l"/>
            <a:pathLst>
              <a:path h="2846798" w="10592737">
                <a:moveTo>
                  <a:pt x="0" y="2846798"/>
                </a:moveTo>
                <a:lnTo>
                  <a:pt x="10592737" y="2846798"/>
                </a:lnTo>
                <a:lnTo>
                  <a:pt x="10592737" y="0"/>
                </a:lnTo>
                <a:lnTo>
                  <a:pt x="0" y="0"/>
                </a:lnTo>
                <a:lnTo>
                  <a:pt x="0" y="284679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78459" y="2812688"/>
            <a:ext cx="8131083" cy="383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2"/>
              </a:lnSpc>
            </a:pPr>
            <a:r>
              <a:rPr lang="en-US" sz="140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Muchas</a:t>
            </a:r>
          </a:p>
          <a:p>
            <a:pPr algn="ctr" marL="0" indent="0" lvl="0">
              <a:lnSpc>
                <a:spcPts val="14312"/>
              </a:lnSpc>
            </a:pPr>
            <a:r>
              <a:rPr lang="en-US" b="true" sz="1403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3904848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708935" y="0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5579065" y="6382152"/>
                </a:moveTo>
                <a:lnTo>
                  <a:pt x="0" y="6382152"/>
                </a:lnTo>
                <a:lnTo>
                  <a:pt x="0" y="0"/>
                </a:lnTo>
                <a:lnTo>
                  <a:pt x="5579065" y="0"/>
                </a:lnTo>
                <a:lnTo>
                  <a:pt x="5579065" y="638215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301030" y="301030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0820522" y="2819522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DAGyoGW-uO8</dc:identifier>
  <dcterms:modified xsi:type="dcterms:W3CDTF">2011-08-01T06:04:30Z</dcterms:modified>
  <cp:revision>1</cp:revision>
  <dc:title>Presentación de Universidad Tesis Psicología Minimalista Formal Azul y Blanco</dc:title>
</cp:coreProperties>
</file>